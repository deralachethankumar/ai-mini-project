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26B944-64ED-4519-9399-153DF8686B2D}" v="12" dt="2025-11-05T08:27:03.6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86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KY SEN" userId="eb03e66c950cc231" providerId="LiveId" clId="{015084A2-7F44-4CCD-AFFE-D4D9DF5755EA}"/>
    <pc:docChg chg="custSel delSld modSld">
      <pc:chgData name="VIKKY SEN" userId="eb03e66c950cc231" providerId="LiveId" clId="{015084A2-7F44-4CCD-AFFE-D4D9DF5755EA}" dt="2025-11-05T08:27:48.374" v="83" actId="20577"/>
      <pc:docMkLst>
        <pc:docMk/>
      </pc:docMkLst>
      <pc:sldChg chg="modSp mod">
        <pc:chgData name="VIKKY SEN" userId="eb03e66c950cc231" providerId="LiveId" clId="{015084A2-7F44-4CCD-AFFE-D4D9DF5755EA}" dt="2025-11-05T08:27:48.374" v="83" actId="20577"/>
        <pc:sldMkLst>
          <pc:docMk/>
          <pc:sldMk cId="2720793846" sldId="256"/>
        </pc:sldMkLst>
        <pc:graphicFrameChg chg="mod modGraphic">
          <ac:chgData name="VIKKY SEN" userId="eb03e66c950cc231" providerId="LiveId" clId="{015084A2-7F44-4CCD-AFFE-D4D9DF5755EA}" dt="2025-11-05T08:27:48.374" v="83" actId="20577"/>
          <ac:graphicFrameMkLst>
            <pc:docMk/>
            <pc:sldMk cId="2720793846" sldId="256"/>
            <ac:graphicFrameMk id="11" creationId="{B39E0012-B3AF-E718-6BBA-5D37629E4005}"/>
          </ac:graphicFrameMkLst>
        </pc:graphicFrameChg>
      </pc:sldChg>
      <pc:sldChg chg="modSp mod">
        <pc:chgData name="VIKKY SEN" userId="eb03e66c950cc231" providerId="LiveId" clId="{015084A2-7F44-4CCD-AFFE-D4D9DF5755EA}" dt="2025-11-05T08:23:21.004" v="20" actId="27636"/>
        <pc:sldMkLst>
          <pc:docMk/>
          <pc:sldMk cId="1816614792" sldId="257"/>
        </pc:sldMkLst>
        <pc:spChg chg="mod">
          <ac:chgData name="VIKKY SEN" userId="eb03e66c950cc231" providerId="LiveId" clId="{015084A2-7F44-4CCD-AFFE-D4D9DF5755EA}" dt="2025-11-05T08:23:21.004" v="20" actId="27636"/>
          <ac:spMkLst>
            <pc:docMk/>
            <pc:sldMk cId="1816614792" sldId="257"/>
            <ac:spMk id="3" creationId="{FAE17474-C476-1051-3F37-A2159E2BEE57}"/>
          </ac:spMkLst>
        </pc:spChg>
      </pc:sldChg>
      <pc:sldChg chg="modSp mod">
        <pc:chgData name="VIKKY SEN" userId="eb03e66c950cc231" providerId="LiveId" clId="{015084A2-7F44-4CCD-AFFE-D4D9DF5755EA}" dt="2025-11-05T08:24:41.335" v="31" actId="20577"/>
        <pc:sldMkLst>
          <pc:docMk/>
          <pc:sldMk cId="519586359" sldId="258"/>
        </pc:sldMkLst>
        <pc:graphicFrameChg chg="mod modGraphic">
          <ac:chgData name="VIKKY SEN" userId="eb03e66c950cc231" providerId="LiveId" clId="{015084A2-7F44-4CCD-AFFE-D4D9DF5755EA}" dt="2025-11-05T08:24:41.335" v="31" actId="20577"/>
          <ac:graphicFrameMkLst>
            <pc:docMk/>
            <pc:sldMk cId="519586359" sldId="258"/>
            <ac:graphicFrameMk id="7" creationId="{ACE64048-76D1-E559-97A6-1E9DA8CC9F64}"/>
          </ac:graphicFrameMkLst>
        </pc:graphicFrameChg>
      </pc:sldChg>
      <pc:sldChg chg="modSp mod">
        <pc:chgData name="VIKKY SEN" userId="eb03e66c950cc231" providerId="LiveId" clId="{015084A2-7F44-4CCD-AFFE-D4D9DF5755EA}" dt="2025-11-05T08:23:54.790" v="26" actId="27636"/>
        <pc:sldMkLst>
          <pc:docMk/>
          <pc:sldMk cId="2832692384" sldId="259"/>
        </pc:sldMkLst>
        <pc:spChg chg="mod">
          <ac:chgData name="VIKKY SEN" userId="eb03e66c950cc231" providerId="LiveId" clId="{015084A2-7F44-4CCD-AFFE-D4D9DF5755EA}" dt="2025-11-05T08:23:54.790" v="26" actId="27636"/>
          <ac:spMkLst>
            <pc:docMk/>
            <pc:sldMk cId="2832692384" sldId="259"/>
            <ac:spMk id="3" creationId="{FE67243E-1300-82BE-9968-6837E801AFFC}"/>
          </ac:spMkLst>
        </pc:spChg>
      </pc:sldChg>
      <pc:sldChg chg="addSp delSp modSp mod">
        <pc:chgData name="VIKKY SEN" userId="eb03e66c950cc231" providerId="LiveId" clId="{015084A2-7F44-4CCD-AFFE-D4D9DF5755EA}" dt="2025-11-05T08:26:30.156" v="55" actId="20577"/>
        <pc:sldMkLst>
          <pc:docMk/>
          <pc:sldMk cId="2805269521" sldId="260"/>
        </pc:sldMkLst>
        <pc:spChg chg="del mod">
          <ac:chgData name="VIKKY SEN" userId="eb03e66c950cc231" providerId="LiveId" clId="{015084A2-7F44-4CCD-AFFE-D4D9DF5755EA}" dt="2025-11-05T08:24:59.647" v="33"/>
          <ac:spMkLst>
            <pc:docMk/>
            <pc:sldMk cId="2805269521" sldId="260"/>
            <ac:spMk id="3" creationId="{CB511744-1841-7314-5231-7CC4C07DDED0}"/>
          </ac:spMkLst>
        </pc:spChg>
        <pc:spChg chg="add mod">
          <ac:chgData name="VIKKY SEN" userId="eb03e66c950cc231" providerId="LiveId" clId="{015084A2-7F44-4CCD-AFFE-D4D9DF5755EA}" dt="2025-11-05T08:26:30.156" v="55" actId="20577"/>
          <ac:spMkLst>
            <pc:docMk/>
            <pc:sldMk cId="2805269521" sldId="260"/>
            <ac:spMk id="10" creationId="{BBE87D88-B070-CE08-D3C7-6BB363869B2A}"/>
          </ac:spMkLst>
        </pc:spChg>
        <pc:picChg chg="add mod">
          <ac:chgData name="VIKKY SEN" userId="eb03e66c950cc231" providerId="LiveId" clId="{015084A2-7F44-4CCD-AFFE-D4D9DF5755EA}" dt="2025-11-05T08:25:27.919" v="40" actId="14100"/>
          <ac:picMkLst>
            <pc:docMk/>
            <pc:sldMk cId="2805269521" sldId="260"/>
            <ac:picMk id="6" creationId="{78C40935-8BE5-3FCA-90AC-EAD888BF8765}"/>
          </ac:picMkLst>
        </pc:picChg>
        <pc:picChg chg="add mod">
          <ac:chgData name="VIKKY SEN" userId="eb03e66c950cc231" providerId="LiveId" clId="{015084A2-7F44-4CCD-AFFE-D4D9DF5755EA}" dt="2025-11-05T08:25:23.522" v="39" actId="1076"/>
          <ac:picMkLst>
            <pc:docMk/>
            <pc:sldMk cId="2805269521" sldId="260"/>
            <ac:picMk id="7" creationId="{9689F46B-158D-05DD-C4A7-2F2A82F5D698}"/>
          </ac:picMkLst>
        </pc:picChg>
        <pc:picChg chg="add mod">
          <ac:chgData name="VIKKY SEN" userId="eb03e66c950cc231" providerId="LiveId" clId="{015084A2-7F44-4CCD-AFFE-D4D9DF5755EA}" dt="2025-11-05T08:25:37.912" v="42" actId="1076"/>
          <ac:picMkLst>
            <pc:docMk/>
            <pc:sldMk cId="2805269521" sldId="260"/>
            <ac:picMk id="8" creationId="{E3F140B2-A7C8-52AA-4196-81A0C5CBA5C6}"/>
          </ac:picMkLst>
        </pc:picChg>
      </pc:sldChg>
      <pc:sldChg chg="del">
        <pc:chgData name="VIKKY SEN" userId="eb03e66c950cc231" providerId="LiveId" clId="{015084A2-7F44-4CCD-AFFE-D4D9DF5755EA}" dt="2025-11-05T08:26:48.157" v="56" actId="2696"/>
        <pc:sldMkLst>
          <pc:docMk/>
          <pc:sldMk cId="1263363521" sldId="261"/>
        </pc:sldMkLst>
      </pc:sldChg>
      <pc:sldChg chg="modSp mod">
        <pc:chgData name="VIKKY SEN" userId="eb03e66c950cc231" providerId="LiveId" clId="{015084A2-7F44-4CCD-AFFE-D4D9DF5755EA}" dt="2025-11-05T08:27:03.692" v="59" actId="27636"/>
        <pc:sldMkLst>
          <pc:docMk/>
          <pc:sldMk cId="752607158" sldId="262"/>
        </pc:sldMkLst>
        <pc:spChg chg="mod">
          <ac:chgData name="VIKKY SEN" userId="eb03e66c950cc231" providerId="LiveId" clId="{015084A2-7F44-4CCD-AFFE-D4D9DF5755EA}" dt="2025-11-05T08:27:03.692" v="59" actId="27636"/>
          <ac:spMkLst>
            <pc:docMk/>
            <pc:sldMk cId="752607158" sldId="262"/>
            <ac:spMk id="3" creationId="{D3AB1971-AF7F-80EE-26ED-EA8A7E8C7C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</a:t>
            </a:r>
            <a:r>
              <a:rPr lang="en-GB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&lt;TITLE OF THE PROJECT&gt;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280663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dirty="0"/>
                        <a:t>2117240030023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Derala</a:t>
                      </a:r>
                      <a:r>
                        <a:rPr lang="en-US" dirty="0"/>
                        <a:t> Chethan </a:t>
                      </a:r>
                      <a:r>
                        <a:rPr lang="en-US" dirty="0" err="1"/>
                        <a:t>kumar</a:t>
                      </a:r>
                      <a:r>
                        <a:rPr lang="en-US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IN" altLang="en-US" dirty="0"/>
                        <a:t>2nd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lang="en-IN" alt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11/5/2025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en-US" dirty="0"/>
              <a:t>INTRODUCTION</a:t>
            </a:r>
          </a:p>
          <a:p>
            <a:r>
              <a:rPr lang="en-US" altLang="en-US" dirty="0"/>
              <a:t> AI enables machines to learn and make intelligent decisions under uncertainty.</a:t>
            </a:r>
          </a:p>
          <a:p>
            <a:r>
              <a:rPr lang="en-US" altLang="en-US" dirty="0"/>
              <a:t> In entertainment, AI powers </a:t>
            </a:r>
            <a:r>
              <a:rPr lang="en-IN" altLang="en-US" dirty="0"/>
              <a:t>“</a:t>
            </a:r>
            <a:r>
              <a:rPr lang="en-US" altLang="en-US" dirty="0"/>
              <a:t>movie recommendation systems</a:t>
            </a:r>
            <a:r>
              <a:rPr lang="en-IN" altLang="en-US" dirty="0"/>
              <a:t>”</a:t>
            </a:r>
            <a:r>
              <a:rPr lang="en-US" altLang="en-US" dirty="0"/>
              <a:t> that personalize user experiences.</a:t>
            </a:r>
          </a:p>
          <a:p>
            <a:r>
              <a:rPr lang="en-US" altLang="en-US" dirty="0"/>
              <a:t> Traditional methods (collaborative &amp; content-based filtering) struggle with </a:t>
            </a:r>
            <a:r>
              <a:rPr lang="en-IN" altLang="en-US" dirty="0"/>
              <a:t>”</a:t>
            </a:r>
            <a:r>
              <a:rPr lang="en-US" altLang="en-US" dirty="0"/>
              <a:t>uncertainty</a:t>
            </a:r>
            <a:r>
              <a:rPr lang="en-IN" altLang="en-US" dirty="0"/>
              <a:t>”</a:t>
            </a:r>
            <a:r>
              <a:rPr lang="en-US" altLang="en-US" dirty="0"/>
              <a:t>, missing data, and changing preferences.</a:t>
            </a:r>
          </a:p>
          <a:p>
            <a:r>
              <a:rPr lang="en-US" altLang="en-US" dirty="0"/>
              <a:t> The proposed system uses Probabilistic Reasoning (Bayesian Networks)to model uncertainty.</a:t>
            </a:r>
          </a:p>
          <a:p>
            <a:r>
              <a:rPr lang="en-US" altLang="en-US" dirty="0"/>
              <a:t> It predicts how likely a user is to enjoy a movie based on ratings, genres, and profiles.</a:t>
            </a:r>
          </a:p>
          <a:p>
            <a:r>
              <a:rPr lang="en-US" altLang="en-US" dirty="0"/>
              <a:t> Improves accuracy, personalization, and adaptability of recommendations.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PROBLEM STATEMENT</a:t>
            </a:r>
          </a:p>
          <a:p>
            <a:r>
              <a:rPr lang="en-US" altLang="en-US" dirty="0"/>
              <a:t>Users face difficulty choosing from a vast number of movies.</a:t>
            </a:r>
          </a:p>
          <a:p>
            <a:r>
              <a:rPr lang="en-US" altLang="en-US" dirty="0"/>
              <a:t> Existing systems fail to handle uncertain or incomplete data effectively.</a:t>
            </a:r>
          </a:p>
          <a:p>
            <a:r>
              <a:rPr lang="en-US" altLang="en-US" dirty="0"/>
              <a:t> Need a system that uses probability-based reasoning to predict movie preferences.</a:t>
            </a:r>
          </a:p>
          <a:p>
            <a:r>
              <a:rPr lang="en-US" altLang="en-US" dirty="0"/>
              <a:t> Goal: Provide accurate, personalized, and dynamic movie suggestions under uncertain conditions.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dirty="0"/>
              <a:t>Theoretical Background</a:t>
            </a:r>
          </a:p>
          <a:p>
            <a:pPr marL="0" indent="0">
              <a:buNone/>
            </a:pPr>
            <a:r>
              <a:rPr lang="en-US" altLang="en-US" dirty="0"/>
              <a:t>Artificial Intelligence (AI) helps systems simulate human reasoning and decision-making. In recommendation systems, AI predicts user preferences through data analysis.</a:t>
            </a:r>
          </a:p>
          <a:p>
            <a:pPr marL="0" indent="0">
              <a:buNone/>
            </a:pPr>
            <a:r>
              <a:rPr lang="en-US" altLang="en-US" dirty="0"/>
              <a:t>Probabilistic Reasoning uses probability </a:t>
            </a:r>
            <a:r>
              <a:rPr lang="en-US" altLang="en-US" dirty="0" err="1"/>
              <a:t>theoryto</a:t>
            </a:r>
            <a:r>
              <a:rPr lang="en-US" altLang="en-US" dirty="0"/>
              <a:t> handle uncertainty and incomplete data. It relies on Bayesian Inference, which updates beliefs based on new evidence.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Probabilistic Reasoning &amp; Naive Bayes</a:t>
            </a:r>
          </a:p>
          <a:p>
            <a:pPr marL="0" indent="0">
              <a:buNone/>
            </a:pPr>
            <a:r>
              <a:rPr lang="en-US" altLang="en-US" dirty="0"/>
              <a:t>Bayes’ Theorem computes the probability of an event (e.g., user liking a movie) based on prior knowledge and observed data.</a:t>
            </a:r>
          </a:p>
          <a:p>
            <a:pPr marL="0" indent="0">
              <a:buNone/>
            </a:pPr>
            <a:r>
              <a:rPr lang="en-US" altLang="en-US" dirty="0"/>
              <a:t>The Naive Bayes algorithm, derived from Bayes’ Theorem, assumes feature independence and efficiently predicts whether a user will like a movie based on its features (genre, director, ratings, etc.).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155346"/>
              </p:ext>
            </p:extLst>
          </p:nvPr>
        </p:nvGraphicFramePr>
        <p:xfrm>
          <a:off x="1854200" y="2205222"/>
          <a:ext cx="8128000" cy="3662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>
                          <a:solidFill>
                            <a:schemeClr val="tx1"/>
                          </a:solidFill>
                        </a:rPr>
                        <a:t>https://github.com/deralachethankumar/AI-mini-project/blob/c74cad8410789dc3a90264d38bbe9d56aed6f231/AI%20mini%20project%20chethan.py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>
                          <a:solidFill>
                            <a:schemeClr val="tx1"/>
                          </a:solidFill>
                        </a:rPr>
                        <a:t>https://github.com/deralachethankumar/AI-mini-project/blob/main/MergeResult_2025_11_04_06_54_56.docx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C40935-8BE5-3FCA-90AC-EAD888BF876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6285" y="1273538"/>
            <a:ext cx="3169022" cy="2580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89F46B-158D-05DD-C4A7-2F2A82F5D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719" y="1387521"/>
            <a:ext cx="3233420" cy="24663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F140B2-A7C8-52AA-4196-81A0C5CBA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551" y="1387521"/>
            <a:ext cx="2994025" cy="25126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E87D88-B070-CE08-D3C7-6BB363869B2A}"/>
              </a:ext>
            </a:extLst>
          </p:cNvPr>
          <p:cNvSpPr txBox="1"/>
          <p:nvPr/>
        </p:nvSpPr>
        <p:spPr>
          <a:xfrm>
            <a:off x="1927452" y="3853861"/>
            <a:ext cx="833709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en-US" dirty="0"/>
              <a:t>:The probabilistic reasoning model successfully predicted suitable movie recommendations based on user moods and genres.</a:t>
            </a:r>
          </a:p>
          <a:p>
            <a:pPr lvl="0"/>
            <a:r>
              <a:rPr lang="en-US" altLang="en-US" dirty="0"/>
              <a:t>:The GUI-based system provided an interactive and user-friendly interface for testing various input combinations.</a:t>
            </a:r>
          </a:p>
          <a:p>
            <a:pPr lvl="0"/>
            <a:r>
              <a:rPr lang="en-US" altLang="en-US" dirty="0"/>
              <a:t>:The results validated that Bayesian probability-based reasoning effectively handled uncertainty in user mood and preferences.</a:t>
            </a:r>
          </a:p>
          <a:p>
            <a:pPr lvl="0"/>
            <a:r>
              <a:rPr lang="en-US" altLang="en-US" dirty="0"/>
              <a:t>:Movies with higher probability scores were shown to better align with user expectations, proving the model’s capability to prioritize relevant recommendations.</a:t>
            </a:r>
          </a:p>
          <a:p>
            <a:pPr lvl="0"/>
            <a:r>
              <a:rPr lang="en-US" altLang="en-US" dirty="0"/>
              <a:t>:The system achieved accurate and logical recommendations, improving personalization and decision support for users</a:t>
            </a:r>
          </a:p>
          <a:p>
            <a:pPr lvl="0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altLang="en-US" dirty="0"/>
              <a:t>1. Artificial Intelligence: A Modern Approach by Russell &amp; Norvig </a:t>
            </a:r>
            <a:r>
              <a:rPr lang="en-IN" altLang="en-US" dirty="0"/>
              <a:t>;</a:t>
            </a:r>
            <a:endParaRPr lang="en-US" altLang="en-US" dirty="0"/>
          </a:p>
          <a:p>
            <a:pPr marL="0" lvl="0" indent="0">
              <a:buNone/>
            </a:pPr>
            <a:r>
              <a:rPr lang="en-US" altLang="en-US" dirty="0"/>
              <a:t>[https://aima.eecs.berkeley.edu/](https://aima.eecs.berkeley.edu/) ([aima.eecs.berkeley.edu][1])</a:t>
            </a:r>
          </a:p>
          <a:p>
            <a:pPr marL="0" lvl="0" indent="0">
              <a:buNone/>
            </a:pPr>
            <a:endParaRPr lang="en-US" altLang="en-US" dirty="0"/>
          </a:p>
          <a:p>
            <a:pPr marL="0" lvl="0" indent="0">
              <a:buNone/>
            </a:pPr>
            <a:r>
              <a:rPr lang="en-US" altLang="en-US" dirty="0"/>
              <a:t>2. Recommender Systems Handbook (2nd Ed., Ricci / Rokach / Shapira) </a:t>
            </a:r>
            <a:r>
              <a:rPr lang="en-IN" altLang="en-US" dirty="0"/>
              <a:t>;</a:t>
            </a:r>
            <a:endParaRPr lang="en-US" altLang="en-US" dirty="0"/>
          </a:p>
          <a:p>
            <a:pPr marL="0" lvl="0" indent="0">
              <a:buNone/>
            </a:pPr>
            <a:r>
              <a:rPr lang="en-US" altLang="en-US" dirty="0"/>
              <a:t> [https://link.springer.com/book/10.1007/978-1-4899-7637-6](https://link.springer.com/book/10.1007/978-1-4899-7637-6) ([SpringerLink][2])</a:t>
            </a:r>
          </a:p>
          <a:p>
            <a:pPr marL="0" lvl="0" indent="0">
              <a:buNone/>
            </a:pPr>
            <a:endParaRPr lang="en-US" altLang="en-US" dirty="0"/>
          </a:p>
          <a:p>
            <a:pPr marL="0" lvl="0" indent="0">
              <a:buNone/>
            </a:pPr>
            <a:r>
              <a:rPr lang="en-US" altLang="en-US" dirty="0"/>
              <a:t>3. Machine Learning: A Probabilistic Perspective by Murphy </a:t>
            </a:r>
            <a:r>
              <a:rPr lang="en-IN" altLang="en-US" dirty="0"/>
              <a:t>:</a:t>
            </a:r>
            <a:endParaRPr lang="en-US" altLang="en-US" dirty="0"/>
          </a:p>
          <a:p>
            <a:pPr marL="0" lvl="0" indent="0">
              <a:buNone/>
            </a:pPr>
            <a:r>
              <a:rPr lang="en-US" altLang="en-US" dirty="0"/>
              <a:t> [https://research.google/pubs/machine-learning-a-probabilistic-perspective/](https://research.google/pubs/machine-learning-a-probabilistic-perspective/) ([</a:t>
            </a:r>
            <a:r>
              <a:rPr lang="en-US" altLang="en-US" dirty="0" err="1"/>
              <a:t>research.google</a:t>
            </a:r>
            <a:r>
              <a:rPr lang="en-US" altLang="en-US" dirty="0"/>
              <a:t>][3])</a:t>
            </a:r>
          </a:p>
          <a:p>
            <a:pPr marL="0" lvl="0" indent="0">
              <a:buNone/>
            </a:pPr>
            <a:endParaRPr lang="en-US" altLang="en-US" dirty="0"/>
          </a:p>
          <a:p>
            <a:pPr marL="0" lvl="0" indent="0">
              <a:buNone/>
            </a:pPr>
            <a:endParaRPr lang="en-US" altLang="en-US" dirty="0"/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11/5/2025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637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III ARTIFICIAL INTELLIGENCE LABORATORY  MINI PROJECT REVIEW   &lt;TITLE OF THE PROJECT&gt;</vt:lpstr>
      <vt:lpstr>PROBLEM STATEMENT</vt:lpstr>
      <vt:lpstr>THEORETICAL BACKGROUND</vt:lpstr>
      <vt:lpstr>IMPLEMENTATION AND CODE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VIKKY SEN</cp:lastModifiedBy>
  <cp:revision>5</cp:revision>
  <dcterms:created xsi:type="dcterms:W3CDTF">2025-10-18T08:57:34Z</dcterms:created>
  <dcterms:modified xsi:type="dcterms:W3CDTF">2025-11-05T08:27:51Z</dcterms:modified>
</cp:coreProperties>
</file>